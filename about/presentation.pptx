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3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80" r:id="rId23"/>
    <p:sldId id="281" r:id="rId24"/>
    <p:sldId id="282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C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1578" y="-3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911114"/>
            <a:ext cx="1828800" cy="54864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213822"/>
            <a:ext cx="10058400" cy="31762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lang="ru-RU" sz="6800" b="1" dirty="0">
                <a:solidFill>
                  <a:srgbClr val="FFFFFF"/>
                </a:solidFill>
                <a:latin typeface="Segoe UI"/>
              </a:rPr>
              <a:t>Система мониторинга фур в реальном времени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89320"/>
            <a:ext cx="10058400" cy="267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500" b="0" dirty="0" err="1">
                <a:solidFill>
                  <a:srgbClr val="FFFFFF"/>
                </a:solidFill>
                <a:latin typeface="Segoe UI"/>
              </a:rPr>
              <a:t>Сергей</a:t>
            </a:r>
            <a:r>
              <a:rPr sz="15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Segoe UI"/>
              </a:rPr>
              <a:t>Лавриненко</a:t>
            </a:r>
            <a:r>
              <a:rPr sz="1500" b="0" dirty="0">
                <a:solidFill>
                  <a:srgbClr val="FFFFFF"/>
                </a:solidFill>
                <a:latin typeface="Segoe UI"/>
              </a:rPr>
              <a:t> · </a:t>
            </a:r>
            <a:r>
              <a:rPr lang="ru-RU" sz="1500" b="0" dirty="0" smtClean="0">
                <a:solidFill>
                  <a:srgbClr val="FFFFFF"/>
                </a:solidFill>
                <a:latin typeface="Segoe UI"/>
              </a:rPr>
              <a:t>Тимур Юсупов</a:t>
            </a:r>
            <a:r>
              <a:rPr sz="1500" b="0" dirty="0" smtClean="0">
                <a:solidFill>
                  <a:srgbClr val="FFFFFF"/>
                </a:solidFill>
                <a:latin typeface="Segoe UI"/>
              </a:rPr>
              <a:t> ·</a:t>
            </a:r>
            <a:r>
              <a:rPr lang="ru-RU" sz="1500" b="0" dirty="0" smtClean="0">
                <a:solidFill>
                  <a:srgbClr val="FFFFFF"/>
                </a:solidFill>
                <a:latin typeface="Segoe UI"/>
              </a:rPr>
              <a:t> </a:t>
            </a:r>
            <a:r>
              <a:rPr lang="ru-RU" sz="1500" b="0" dirty="0" err="1" smtClean="0">
                <a:solidFill>
                  <a:srgbClr val="FFFFFF"/>
                </a:solidFill>
                <a:latin typeface="Segoe UI"/>
              </a:rPr>
              <a:t>Пайрав</a:t>
            </a:r>
            <a:r>
              <a:rPr lang="ru-RU" sz="150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ru-RU" sz="1500" dirty="0" err="1" smtClean="0">
                <a:solidFill>
                  <a:srgbClr val="FFFFFF"/>
                </a:solidFill>
                <a:latin typeface="Segoe UI"/>
              </a:rPr>
              <a:t>Бузургхонов</a:t>
            </a:r>
            <a:r>
              <a:rPr sz="1500" b="0" dirty="0" smtClean="0">
                <a:solidFill>
                  <a:srgbClr val="FFFFFF"/>
                </a:solidFill>
                <a:latin typeface="Segoe UI"/>
              </a:rPr>
              <a:t> </a:t>
            </a:r>
            <a:r>
              <a:rPr lang="ru-RU" sz="1500" dirty="0" smtClean="0">
                <a:solidFill>
                  <a:srgbClr val="FFFFFF"/>
                </a:solidFill>
                <a:latin typeface="Segoe UI"/>
              </a:rPr>
              <a:t>· </a:t>
            </a:r>
            <a:r>
              <a:rPr sz="1500" b="0" dirty="0" smtClean="0">
                <a:solidFill>
                  <a:srgbClr val="FFFFFF"/>
                </a:solidFill>
                <a:latin typeface="Segoe UI"/>
              </a:rPr>
              <a:t>2026</a:t>
            </a:r>
            <a:endParaRPr sz="1500" b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4503898"/>
            <a:ext cx="10058400" cy="267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500" dirty="0" smtClean="0">
                <a:solidFill>
                  <a:srgbClr val="F47C26"/>
                </a:solidFill>
                <a:latin typeface="Segoe UI"/>
              </a:rPr>
              <a:t>Промежуточный итог</a:t>
            </a:r>
            <a:endParaRPr sz="1500" b="0" dirty="0">
              <a:solidFill>
                <a:srgbClr val="F47C2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О проекте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Segoe UI"/>
              </a:rPr>
              <a:t>Зачем это нужно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394960" cy="3749039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53949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D9474F"/>
                </a:solidFill>
                <a:latin typeface="Segoe UI"/>
              </a:rPr>
              <a:t>Проблема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493776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47C26"/>
                </a:solidFill>
                <a:latin typeface="Segoe UI"/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Владельцы автопарков не видят, что происходит с фурой между рейсами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47C26"/>
                </a:solidFill>
                <a:latin typeface="Segoe UI"/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Расход, обороты, ошибки ECU, маршрут — контроль «по бумажке» от водителя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47C26"/>
                </a:solidFill>
                <a:latin typeface="Segoe UI"/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Западные системы (Wialon, Omnicomm) дороги или недоступны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5394960" cy="3749039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3949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22A06B"/>
                </a:solidFill>
                <a:latin typeface="Segoe UI"/>
              </a:rPr>
              <a:t>Решение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93776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ESP32 в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кабине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читает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CAN-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шину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,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шлёт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телеметрию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по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WiFi</a:t>
            </a:r>
            <a:endParaRPr sz="14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Веб-панель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—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графики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и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алерты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для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админа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компании</a:t>
            </a:r>
            <a:endParaRPr sz="14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Telegram-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бот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—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заправки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и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алерты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для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водителя</a:t>
            </a:r>
            <a:endParaRPr sz="14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Open-source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стек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~</a:t>
            </a:r>
            <a:r>
              <a:rPr sz="1400" dirty="0" smtClean="0">
                <a:solidFill>
                  <a:srgbClr val="1A1A1A"/>
                </a:solidFill>
                <a:latin typeface="Segoe UI"/>
              </a:rPr>
              <a:t>2000</a:t>
            </a:r>
            <a:r>
              <a:rPr lang="ru-RU"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lang="ru-RU" sz="1400" dirty="0" smtClean="0">
                <a:solidFill>
                  <a:srgbClr val="1A1A1A"/>
                </a:solidFill>
                <a:latin typeface="Segoe UI"/>
              </a:rPr>
              <a:t>руб.</a:t>
            </a:r>
            <a:endParaRPr sz="1400" dirty="0">
              <a:solidFill>
                <a:srgbClr val="1A1A1A"/>
              </a:solidFill>
              <a:latin typeface="Segoe U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Архитектура системы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3108960" cy="1463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ESP32 в кабине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108960" cy="4370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 dirty="0">
                <a:solidFill>
                  <a:srgbClr val="F47C26"/>
                </a:solidFill>
                <a:latin typeface="Segoe UI"/>
              </a:rPr>
              <a:t>CAN · GPS · IMU
C++ / ESP32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1600200"/>
            <a:ext cx="3108960" cy="1463040"/>
          </a:xfrm>
          <a:prstGeom prst="rect">
            <a:avLst/>
          </a:prstGeom>
          <a:solidFill>
            <a:srgbClr val="14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737360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48840"/>
            <a:ext cx="310896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 dirty="0">
                <a:solidFill>
                  <a:srgbClr val="F47C26"/>
                </a:solidFill>
                <a:latin typeface="Segoe UI"/>
              </a:rPr>
              <a:t>.NET 10 + EF Core
SQLite (prod: </a:t>
            </a:r>
            <a:r>
              <a:rPr sz="1300" b="0" dirty="0" err="1">
                <a:solidFill>
                  <a:srgbClr val="F47C26"/>
                </a:solidFill>
                <a:latin typeface="Segoe UI"/>
              </a:rPr>
              <a:t>PostgreSQL</a:t>
            </a:r>
            <a:r>
              <a:rPr sz="1300" b="0" dirty="0">
                <a:solidFill>
                  <a:srgbClr val="F47C26"/>
                </a:solidFill>
                <a:latin typeface="Segoe UI"/>
              </a:rPr>
              <a:t>)
Wildcard *.nonconf.ru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600200"/>
            <a:ext cx="3108960" cy="64008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31089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Web-панель (Vue 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423160"/>
            <a:ext cx="3108960" cy="64008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2423160"/>
            <a:ext cx="31089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Telegram-бот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49039" y="2331720"/>
            <a:ext cx="777241" cy="0"/>
          </a:xfrm>
          <a:prstGeom prst="line">
            <a:avLst/>
          </a:prstGeom>
          <a:ln w="25400">
            <a:solidFill>
              <a:srgbClr val="0A254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635240" y="1920240"/>
            <a:ext cx="777240" cy="137160"/>
          </a:xfrm>
          <a:prstGeom prst="line">
            <a:avLst/>
          </a:prstGeom>
          <a:ln w="25400">
            <a:solidFill>
              <a:srgbClr val="0A254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35240" y="2606040"/>
            <a:ext cx="777240" cy="137160"/>
          </a:xfrm>
          <a:prstGeom prst="line">
            <a:avLst/>
          </a:prstGeom>
          <a:ln w="25400">
            <a:solidFill>
              <a:srgbClr val="0A254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749039" y="1325880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Segoe UI"/>
              </a:rPr>
              <a:t>HTTPS
/api/telemetry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29000"/>
            <a:ext cx="10911535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61188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Segoe UI"/>
              </a:rPr>
              <a:t>Мультитенантность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690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Каждая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компания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получает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свой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поддомен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&lt;sub&gt;.nonconf.ru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Wildcard-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сертификат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*.nonconf.ru,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общий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бэкенд</a:t>
            </a:r>
            <a:endParaRPr sz="13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Тенант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резолвится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по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Host-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заголовку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—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изоляция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данных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на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уровне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URL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nonconf.ru — super-admin (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создание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новых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компаний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374062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Стек технологий и распределение работ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536762"/>
              </p:ext>
            </p:extLst>
          </p:nvPr>
        </p:nvGraphicFramePr>
        <p:xfrm>
          <a:off x="640080" y="150876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FFFFFF"/>
                          </a:solidFill>
                          <a:latin typeface="Segoe UI"/>
                        </a:rPr>
                        <a:t>Компонент</a:t>
                      </a:r>
                      <a:endParaRPr sz="1300" b="1" dirty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Стек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Кто делал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Устройство (ESP32)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C++, ESP32, </a:t>
                      </a:r>
                      <a:r>
                        <a:rPr sz="1200" dirty="0" err="1">
                          <a:solidFill>
                            <a:srgbClr val="1A1A1A"/>
                          </a:solidFill>
                          <a:latin typeface="Segoe UI"/>
                        </a:rPr>
                        <a:t>PlatformIO</a:t>
                      </a:r>
                      <a:endParaRPr sz="1200" dirty="0">
                        <a:solidFill>
                          <a:srgbClr val="1A1A1A"/>
                        </a:solidFill>
                        <a:latin typeface="Segoe UI"/>
                      </a:endParaRP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Сергей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0A2540"/>
                          </a:solidFill>
                          <a:latin typeface="Segoe UI"/>
                        </a:rPr>
                        <a:t>CAN-</a:t>
                      </a:r>
                      <a:r>
                        <a:rPr sz="1200" b="1" dirty="0" err="1">
                          <a:solidFill>
                            <a:srgbClr val="0A2540"/>
                          </a:solidFill>
                          <a:latin typeface="Segoe UI"/>
                        </a:rPr>
                        <a:t>протоколы</a:t>
                      </a:r>
                      <a:endParaRPr sz="1200" b="1" dirty="0">
                        <a:solidFill>
                          <a:srgbClr val="0A2540"/>
                        </a:solidFill>
                        <a:latin typeface="Segoe UI"/>
                      </a:endParaRP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SAE J1939, ISO 15765-4 (OBD-II)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Сергей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Бэкенд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.NET 10, ASP.NET Core, EF Core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Тимур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База данных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SQLite (prototype) / PostgreSQL (prod)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Тимур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Веб-панель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Vue 3 + Vite, TypeScript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Тимур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Telegram-бот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В работе (Telegram Bot API)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err="1">
                          <a:solidFill>
                            <a:srgbClr val="1A1A1A"/>
                          </a:solidFill>
                          <a:latin typeface="Segoe UI"/>
                        </a:rPr>
                        <a:t>Пайрав</a:t>
                      </a:r>
                      <a:endParaRPr sz="1200" dirty="0">
                        <a:solidFill>
                          <a:srgbClr val="1A1A1A"/>
                        </a:solidFill>
                        <a:latin typeface="Segoe UI"/>
                      </a:endParaRP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Деплой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nonconf.ru, wildcard *.nonconf.ru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err="1">
                          <a:solidFill>
                            <a:srgbClr val="1A1A1A"/>
                          </a:solidFill>
                          <a:latin typeface="Segoe UI"/>
                        </a:rPr>
                        <a:t>Пайрав</a:t>
                      </a:r>
                      <a:endParaRPr sz="1200" dirty="0">
                        <a:solidFill>
                          <a:srgbClr val="1A1A1A"/>
                        </a:solidFill>
                        <a:latin typeface="Segoe UI"/>
                      </a:endParaRP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28016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200" b="1">
                <a:solidFill>
                  <a:srgbClr val="F47C26"/>
                </a:solidFill>
                <a:latin typeface="Segoe UI"/>
              </a:rPr>
              <a:t>ЭТАП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1094415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Segoe UI"/>
              </a:rPr>
              <a:t>Среда и диагностика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109441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"/>
              </a:rPr>
              <a:t>Hardware setup, проверка модулей, тестовый стенд с веб-дашбордом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Железо устройства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551747"/>
              </p:ext>
            </p:extLst>
          </p:nvPr>
        </p:nvGraphicFramePr>
        <p:xfrm>
          <a:off x="640080" y="1417320"/>
          <a:ext cx="6949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FFFFFF"/>
                          </a:solidFill>
                          <a:latin typeface="Segoe UI"/>
                        </a:rPr>
                        <a:t>Компонент</a:t>
                      </a:r>
                      <a:endParaRPr sz="1300" b="1" dirty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Модуль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FFFFFF"/>
                          </a:solidFill>
                          <a:latin typeface="Segoe UI"/>
                        </a:rPr>
                        <a:t>Назначение</a:t>
                      </a:r>
                      <a:endParaRPr sz="1300" b="1" dirty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Контроллер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ESP-WROOM-32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A1A1A"/>
                          </a:solidFill>
                          <a:latin typeface="Segoe UI"/>
                        </a:rPr>
                        <a:t>Двухъядерный</a:t>
                      </a:r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, Wi-Fi, </a:t>
                      </a:r>
                      <a:r>
                        <a:rPr sz="1200" dirty="0" err="1">
                          <a:solidFill>
                            <a:srgbClr val="1A1A1A"/>
                          </a:solidFill>
                          <a:latin typeface="Segoe UI"/>
                        </a:rPr>
                        <a:t>встроенный</a:t>
                      </a:r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 TWAI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CAN-трансивер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WCMCU-230 (SN65HVD230)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A1A1A"/>
                          </a:solidFill>
                          <a:latin typeface="Segoe UI"/>
                        </a:rPr>
                        <a:t>Подключение</a:t>
                      </a:r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 к </a:t>
                      </a:r>
                      <a:r>
                        <a:rPr sz="1200" dirty="0" err="1">
                          <a:solidFill>
                            <a:srgbClr val="1A1A1A"/>
                          </a:solidFill>
                          <a:latin typeface="Segoe UI"/>
                        </a:rPr>
                        <a:t>шине</a:t>
                      </a:r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 </a:t>
                      </a:r>
                      <a:r>
                        <a:rPr sz="1200" dirty="0" err="1">
                          <a:solidFill>
                            <a:srgbClr val="1A1A1A"/>
                          </a:solidFill>
                          <a:latin typeface="Segoe UI"/>
                        </a:rPr>
                        <a:t>автомобиля</a:t>
                      </a:r>
                      <a:endParaRPr sz="1200" dirty="0">
                        <a:solidFill>
                          <a:srgbClr val="1A1A1A"/>
                        </a:solidFill>
                        <a:latin typeface="Segoe UI"/>
                      </a:endParaRP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GPS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GY-GPSV3-NEO-M8N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A1A1A"/>
                          </a:solidFill>
                          <a:latin typeface="Segoe UI"/>
                        </a:rPr>
                        <a:t>Координаты</a:t>
                      </a:r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, </a:t>
                      </a:r>
                      <a:r>
                        <a:rPr sz="1200" dirty="0" err="1">
                          <a:solidFill>
                            <a:srgbClr val="1A1A1A"/>
                          </a:solidFill>
                          <a:latin typeface="Segoe UI"/>
                        </a:rPr>
                        <a:t>скорость</a:t>
                      </a:r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 </a:t>
                      </a:r>
                      <a:r>
                        <a:rPr sz="1200" dirty="0" err="1">
                          <a:solidFill>
                            <a:srgbClr val="1A1A1A"/>
                          </a:solidFill>
                          <a:latin typeface="Segoe UI"/>
                        </a:rPr>
                        <a:t>по</a:t>
                      </a:r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 UART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IMU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MPU-6050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Резкое торможение, удар (I²C)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0A2540"/>
                          </a:solidFill>
                          <a:latin typeface="Segoe UI"/>
                        </a:rPr>
                        <a:t>Питание</a:t>
                      </a:r>
                      <a:endParaRPr sz="1200" b="1" dirty="0">
                        <a:solidFill>
                          <a:srgbClr val="0A2540"/>
                        </a:solidFill>
                        <a:latin typeface="Segoe UI"/>
                      </a:endParaRP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12V → 3.3V LDO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1A1A1A"/>
                          </a:solidFill>
                          <a:latin typeface="Segoe UI"/>
                        </a:rPr>
                        <a:t>Питание модулей</a:t>
                      </a:r>
                      <a:r>
                        <a:rPr lang="ru-RU" sz="1200" baseline="0" dirty="0">
                          <a:solidFill>
                            <a:srgbClr val="1A1A1A"/>
                          </a:solidFill>
                          <a:latin typeface="Segoe UI"/>
                        </a:rPr>
                        <a:t> о</a:t>
                      </a:r>
                      <a:r>
                        <a:rPr lang="ru-RU" sz="1200" dirty="0">
                          <a:solidFill>
                            <a:srgbClr val="1A1A1A"/>
                          </a:solidFill>
                          <a:latin typeface="Segoe UI"/>
                        </a:rPr>
                        <a:t>т</a:t>
                      </a:r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 OBD-II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4846320"/>
            <a:ext cx="10911535" cy="73152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055114"/>
            <a:ext cx="10911535" cy="3139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 dirty="0" err="1">
                <a:solidFill>
                  <a:srgbClr val="FFFFFF"/>
                </a:solidFill>
                <a:latin typeface="Segoe UI"/>
              </a:rPr>
              <a:t>Стоимость</a:t>
            </a:r>
            <a:r>
              <a:rPr sz="18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Segoe UI"/>
              </a:rPr>
              <a:t>комплектующих</a:t>
            </a:r>
            <a:r>
              <a:rPr sz="1800" b="1" dirty="0">
                <a:solidFill>
                  <a:srgbClr val="FFFFFF"/>
                </a:solidFill>
                <a:latin typeface="Segoe UI"/>
              </a:rPr>
              <a:t>: ~</a:t>
            </a:r>
            <a:r>
              <a:rPr lang="ru-RU" sz="1800" b="1" dirty="0">
                <a:solidFill>
                  <a:srgbClr val="FFFFFF"/>
                </a:solidFill>
                <a:latin typeface="Segoe UI"/>
              </a:rPr>
              <a:t>2000</a:t>
            </a:r>
            <a:r>
              <a:rPr sz="1800" b="1" dirty="0">
                <a:solidFill>
                  <a:srgbClr val="FFFFFF"/>
                </a:solidFill>
                <a:latin typeface="Segoe UI"/>
              </a:rPr>
              <a:t> ₽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6 / 27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45" r="416" b="18033"/>
          <a:stretch/>
        </p:blipFill>
        <p:spPr>
          <a:xfrm>
            <a:off x="7876673" y="1417320"/>
            <a:ext cx="3674942" cy="32817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4730"/>
            <a:ext cx="11094415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ru-RU" sz="2800" b="1" dirty="0">
                <a:solidFill>
                  <a:srgbClr val="0A2540"/>
                </a:solidFill>
                <a:latin typeface="Segoe UI"/>
              </a:rPr>
              <a:t>Проблема с </a:t>
            </a:r>
            <a:r>
              <a:rPr lang="en-US" sz="2800" b="1" dirty="0">
                <a:solidFill>
                  <a:srgbClr val="0A2540"/>
                </a:solidFill>
                <a:latin typeface="Segoe UI"/>
              </a:rPr>
              <a:t>CAN-</a:t>
            </a:r>
            <a:r>
              <a:rPr lang="ru-RU" sz="2800" b="1" dirty="0">
                <a:solidFill>
                  <a:srgbClr val="0A2540"/>
                </a:solidFill>
                <a:latin typeface="Segoe UI"/>
              </a:rPr>
              <a:t>трансивером</a:t>
            </a:r>
            <a:endParaRPr sz="2800" b="1" dirty="0">
              <a:solidFill>
                <a:srgbClr val="0A2540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14255" y="6446520"/>
            <a:ext cx="18288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lang="ru-RU" sz="1000" b="0" dirty="0">
                <a:solidFill>
                  <a:srgbClr val="5A6A7A"/>
                </a:solidFill>
                <a:latin typeface="Segoe UI"/>
              </a:rPr>
              <a:t>7</a:t>
            </a:r>
            <a:r>
              <a:rPr sz="1000" b="0" dirty="0">
                <a:solidFill>
                  <a:srgbClr val="5A6A7A"/>
                </a:solidFill>
                <a:latin typeface="Segoe UI"/>
              </a:rPr>
              <a:t> / 27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45" r="416" b="18033"/>
          <a:stretch/>
        </p:blipFill>
        <p:spPr>
          <a:xfrm>
            <a:off x="7864961" y="2659465"/>
            <a:ext cx="3898587" cy="348146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88" r="5543" b="14735"/>
          <a:stretch/>
        </p:blipFill>
        <p:spPr>
          <a:xfrm>
            <a:off x="494356" y="2659465"/>
            <a:ext cx="2724281" cy="347543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64" t="5985" r="15082" b="13280"/>
          <a:stretch/>
        </p:blipFill>
        <p:spPr>
          <a:xfrm rot="16200000">
            <a:off x="4503318" y="1566254"/>
            <a:ext cx="2076962" cy="4270661"/>
          </a:xfrm>
          <a:prstGeom prst="rect">
            <a:avLst/>
          </a:prstGeom>
        </p:spPr>
      </p:pic>
      <p:sp>
        <p:nvSpPr>
          <p:cNvPr id="14" name="Rectangle 18"/>
          <p:cNvSpPr/>
          <p:nvPr/>
        </p:nvSpPr>
        <p:spPr>
          <a:xfrm>
            <a:off x="494356" y="1210842"/>
            <a:ext cx="11269192" cy="1213945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Проблема: </a:t>
            </a:r>
            <a:r>
              <a:rPr lang="ru-RU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не работала </a:t>
            </a:r>
            <a:r>
              <a:rPr 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CAN-</a:t>
            </a:r>
            <a:r>
              <a:rPr lang="ru-RU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шина</a:t>
            </a:r>
          </a:p>
          <a:p>
            <a:endParaRPr lang="ru-RU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Решение: </a:t>
            </a:r>
            <a:r>
              <a:rPr lang="ru-RU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после долгого расследования выяснилось, все 3 </a:t>
            </a:r>
            <a:r>
              <a:rPr 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CAN-</a:t>
            </a:r>
            <a:r>
              <a:rPr lang="ru-RU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трансивера </a:t>
            </a:r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SN65HVD230</a:t>
            </a:r>
            <a:r>
              <a:rPr lang="ru-RU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оказались неисправны</a:t>
            </a:r>
            <a:endParaRPr lang="en-US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Rectangle 7"/>
          <p:cNvSpPr/>
          <p:nvPr/>
        </p:nvSpPr>
        <p:spPr>
          <a:xfrm>
            <a:off x="1673616" y="3206176"/>
            <a:ext cx="365759" cy="356301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Rectangle 7"/>
          <p:cNvSpPr/>
          <p:nvPr/>
        </p:nvSpPr>
        <p:spPr>
          <a:xfrm>
            <a:off x="3762021" y="2772099"/>
            <a:ext cx="365759" cy="356301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Rectangle 7"/>
          <p:cNvSpPr/>
          <p:nvPr/>
        </p:nvSpPr>
        <p:spPr>
          <a:xfrm>
            <a:off x="4627552" y="2772098"/>
            <a:ext cx="365759" cy="356301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Rectangle 7"/>
          <p:cNvSpPr/>
          <p:nvPr/>
        </p:nvSpPr>
        <p:spPr>
          <a:xfrm>
            <a:off x="5264055" y="2772097"/>
            <a:ext cx="365759" cy="356301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Rectangle 7"/>
          <p:cNvSpPr/>
          <p:nvPr/>
        </p:nvSpPr>
        <p:spPr>
          <a:xfrm>
            <a:off x="5736692" y="2772099"/>
            <a:ext cx="365759" cy="356301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Rectangle 7"/>
          <p:cNvSpPr/>
          <p:nvPr/>
        </p:nvSpPr>
        <p:spPr>
          <a:xfrm>
            <a:off x="6209329" y="2772096"/>
            <a:ext cx="365759" cy="356301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Rectangle 7"/>
          <p:cNvSpPr/>
          <p:nvPr/>
        </p:nvSpPr>
        <p:spPr>
          <a:xfrm>
            <a:off x="6762919" y="2772099"/>
            <a:ext cx="365759" cy="356301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7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Rectangle 7"/>
          <p:cNvSpPr/>
          <p:nvPr/>
        </p:nvSpPr>
        <p:spPr>
          <a:xfrm>
            <a:off x="10795545" y="3422283"/>
            <a:ext cx="365759" cy="356301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Rectangle 18"/>
          <p:cNvSpPr/>
          <p:nvPr/>
        </p:nvSpPr>
        <p:spPr>
          <a:xfrm>
            <a:off x="3406468" y="4821452"/>
            <a:ext cx="4270662" cy="1313451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23888" lvl="1">
              <a:lnSpc>
                <a:spcPct val="150000"/>
              </a:lnSpc>
            </a:pPr>
            <a:r>
              <a:rPr lang="ru-RU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неисправные </a:t>
            </a:r>
            <a:r>
              <a:rPr lang="en-US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CAN-</a:t>
            </a:r>
            <a:r>
              <a:rPr lang="ru-RU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трансиверы </a:t>
            </a:r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SN65HVD230</a:t>
            </a:r>
          </a:p>
          <a:p>
            <a:pPr marL="623888" lvl="1">
              <a:lnSpc>
                <a:spcPct val="150000"/>
              </a:lnSpc>
            </a:pPr>
            <a:r>
              <a:rPr lang="ru-RU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исправный </a:t>
            </a:r>
            <a:r>
              <a:rPr lang="en-US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CAN-</a:t>
            </a:r>
            <a:r>
              <a:rPr lang="ru-RU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трансивер </a:t>
            </a:r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SN65HVD230</a:t>
            </a:r>
          </a:p>
          <a:p>
            <a:pPr marL="623888" lvl="1">
              <a:lnSpc>
                <a:spcPct val="150000"/>
              </a:lnSpc>
            </a:pPr>
            <a:r>
              <a:rPr lang="en-US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ESP-32 </a:t>
            </a:r>
            <a:r>
              <a:rPr lang="ru-RU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на которых дополнительно тестировался </a:t>
            </a:r>
            <a:r>
              <a:rPr lang="en-US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</a:t>
            </a:r>
          </a:p>
          <a:p>
            <a:pPr marL="623888" lvl="1">
              <a:lnSpc>
                <a:spcPct val="150000"/>
              </a:lnSpc>
            </a:pPr>
            <a:r>
              <a:rPr lang="en-US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</a:t>
            </a:r>
            <a:r>
              <a:rPr lang="ru-RU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модуль (подключается по </a:t>
            </a:r>
            <a:r>
              <a:rPr lang="en-US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SPI</a:t>
            </a:r>
            <a:r>
              <a:rPr lang="ru-RU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en-US" sz="11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623888" lvl="1">
              <a:lnSpc>
                <a:spcPct val="150000"/>
              </a:lnSpc>
            </a:pPr>
            <a:r>
              <a:rPr lang="en-US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 </a:t>
            </a:r>
            <a:r>
              <a:rPr lang="ru-RU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трансивер с логикой 5</a:t>
            </a:r>
            <a:r>
              <a:rPr lang="en-US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вольт </a:t>
            </a:r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TJA1050</a:t>
            </a:r>
            <a:endParaRPr sz="11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Rectangle 7"/>
          <p:cNvSpPr/>
          <p:nvPr/>
        </p:nvSpPr>
        <p:spPr>
          <a:xfrm>
            <a:off x="3483156" y="4890726"/>
            <a:ext cx="557730" cy="22576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latin typeface="Segoe UI" panose="020B0502040204020203" pitchFamily="34" charset="0"/>
                <a:cs typeface="Segoe UI" panose="020B0502040204020203" pitchFamily="34" charset="0"/>
              </a:rPr>
              <a:t>1, </a:t>
            </a:r>
            <a:r>
              <a:rPr lang="en-US" sz="1100" dirty="0"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ru-RU" sz="1100" dirty="0">
                <a:latin typeface="Segoe UI" panose="020B0502040204020203" pitchFamily="34" charset="0"/>
                <a:cs typeface="Segoe UI" panose="020B0502040204020203" pitchFamily="34" charset="0"/>
              </a:rPr>
              <a:t>, 5 </a:t>
            </a:r>
            <a:endParaRPr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Rectangle 7"/>
          <p:cNvSpPr/>
          <p:nvPr/>
        </p:nvSpPr>
        <p:spPr>
          <a:xfrm>
            <a:off x="3483156" y="5136394"/>
            <a:ext cx="557730" cy="22576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  <a:endParaRPr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Rectangle 7"/>
          <p:cNvSpPr/>
          <p:nvPr/>
        </p:nvSpPr>
        <p:spPr>
          <a:xfrm>
            <a:off x="3483156" y="5375975"/>
            <a:ext cx="557730" cy="22576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latin typeface="Segoe UI" panose="020B0502040204020203" pitchFamily="34" charset="0"/>
                <a:cs typeface="Segoe UI" panose="020B0502040204020203" pitchFamily="34" charset="0"/>
              </a:rPr>
              <a:t>2, 3 </a:t>
            </a:r>
            <a:endParaRPr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Rectangle 7"/>
          <p:cNvSpPr/>
          <p:nvPr/>
        </p:nvSpPr>
        <p:spPr>
          <a:xfrm>
            <a:off x="3483156" y="5615556"/>
            <a:ext cx="557730" cy="22576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Segoe UI" panose="020B0502040204020203" pitchFamily="34" charset="0"/>
                <a:cs typeface="Segoe UI" panose="020B0502040204020203" pitchFamily="34" charset="0"/>
              </a:rPr>
              <a:t>7</a:t>
            </a:r>
            <a:endParaRPr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Rectangle 7"/>
          <p:cNvSpPr/>
          <p:nvPr/>
        </p:nvSpPr>
        <p:spPr>
          <a:xfrm>
            <a:off x="3486677" y="5861643"/>
            <a:ext cx="557730" cy="22576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762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Диагностика модулей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Segoe UI"/>
              </a:rPr>
              <a:t>Прошивка проверяет каждый сенсор на старте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6858000" cy="320040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6858000" cy="32004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r>
              <a:rPr sz="1400" dirty="0">
                <a:solidFill>
                  <a:srgbClr val="FFFFFF"/>
                </a:solidFill>
                <a:latin typeface="Consolas"/>
              </a:rPr>
              <a:t>====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VehicleLogger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 —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Диагностика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 v1.0 ====</a:t>
            </a:r>
          </a:p>
          <a:p>
            <a:endParaRPr sz="1400" dirty="0">
              <a:solidFill>
                <a:srgbClr val="FFFFFF"/>
              </a:solidFill>
              <a:latin typeface="Consolas"/>
            </a:endParaRPr>
          </a:p>
          <a:p>
            <a:r>
              <a:rPr sz="1400" dirty="0">
                <a:solidFill>
                  <a:srgbClr val="FFFFFF"/>
                </a:solidFill>
                <a:latin typeface="Consolas"/>
              </a:rPr>
              <a:t>TEST 1: Wi-Fi          → OK    (RSSI -45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dBm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)</a:t>
            </a:r>
          </a:p>
          <a:p>
            <a:r>
              <a:rPr sz="1400" dirty="0">
                <a:solidFill>
                  <a:srgbClr val="FFFFFF"/>
                </a:solidFill>
                <a:latin typeface="Consolas"/>
              </a:rPr>
              <a:t>TEST 2: I²C / MPU-6050 → OK    (WHO_AM_I 0x68, ax/ay/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az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)</a:t>
            </a:r>
          </a:p>
          <a:p>
            <a:r>
              <a:rPr sz="1400" dirty="0">
                <a:solidFill>
                  <a:srgbClr val="FFFFFF"/>
                </a:solidFill>
                <a:latin typeface="Consolas"/>
              </a:rPr>
              <a:t>TEST 3: CAN / TWAI     → OK    (driver @ 500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kbit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/s)</a:t>
            </a:r>
          </a:p>
          <a:p>
            <a:r>
              <a:rPr sz="1400" dirty="0">
                <a:solidFill>
                  <a:srgbClr val="FFFFFF"/>
                </a:solidFill>
                <a:latin typeface="Consolas"/>
              </a:rPr>
              <a:t>TEST 4: GPS / NEO-M8N  → OK    (NMEA, 8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спутников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)</a:t>
            </a:r>
          </a:p>
          <a:p>
            <a:endParaRPr sz="1400" dirty="0">
              <a:solidFill>
                <a:srgbClr val="FFFFFF"/>
              </a:solidFill>
              <a:latin typeface="Consolas"/>
            </a:endParaRPr>
          </a:p>
          <a:p>
            <a:r>
              <a:rPr sz="1400" dirty="0">
                <a:solidFill>
                  <a:srgbClr val="FFFFFF"/>
                </a:solidFill>
                <a:latin typeface="Consolas"/>
              </a:rPr>
              <a:t>&gt;&gt;&gt;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Все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модули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работают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! &lt;&lt;&lt;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75504"/>
            <a:ext cx="10911535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400" b="0" dirty="0" err="1">
                <a:solidFill>
                  <a:srgbClr val="5A6A7A"/>
                </a:solidFill>
                <a:latin typeface="Segoe UI"/>
              </a:rPr>
              <a:t>Если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какой-то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модуль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не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работает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—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сразу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видно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по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boot-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логу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,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без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отладчика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4730"/>
            <a:ext cx="11094415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 dirty="0" err="1">
                <a:solidFill>
                  <a:srgbClr val="0A2540"/>
                </a:solidFill>
                <a:latin typeface="Segoe UI"/>
              </a:rPr>
              <a:t>Тестовый</a:t>
            </a:r>
            <a:r>
              <a:rPr sz="2800" b="1" dirty="0">
                <a:solidFill>
                  <a:srgbClr val="0A2540"/>
                </a:solidFill>
                <a:latin typeface="Segoe UI"/>
              </a:rPr>
              <a:t> </a:t>
            </a:r>
            <a:r>
              <a:rPr sz="2800" b="1" dirty="0" err="1">
                <a:solidFill>
                  <a:srgbClr val="0A2540"/>
                </a:solidFill>
                <a:latin typeface="Segoe UI"/>
              </a:rPr>
              <a:t>стенд</a:t>
            </a:r>
            <a:endParaRPr sz="2800" b="1" dirty="0">
              <a:solidFill>
                <a:srgbClr val="0A2540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dirty="0" err="1">
                <a:solidFill>
                  <a:srgbClr val="5A6A7A"/>
                </a:solidFill>
                <a:latin typeface="Segoe UI"/>
              </a:rPr>
              <a:t>Веб-дашборд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для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отладки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без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Serial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943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LittleFS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для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статики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 (HTML / CSS / JS)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на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 ESP32</a:t>
            </a: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WebSocket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 —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данные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обновляются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каждые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 200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мс</a:t>
            </a:r>
            <a:endParaRPr sz="15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Sky-plot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спутников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,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графики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 SNR в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реальном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времени</a:t>
            </a:r>
            <a:endParaRPr sz="15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Карточка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 «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Показатели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автомобиля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»: RPM,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скорость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,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давление</a:t>
            </a:r>
            <a:endParaRPr sz="1500" dirty="0">
              <a:solidFill>
                <a:srgbClr val="1A1A1A"/>
              </a:solidFill>
              <a:latin typeface="Segoe U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9 / 27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4562" y="1310114"/>
            <a:ext cx="3970620" cy="4867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28016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200" b="1">
                <a:solidFill>
                  <a:srgbClr val="F47C26"/>
                </a:solidFill>
                <a:latin typeface="Segoe UI"/>
              </a:rPr>
              <a:t>ЭТАП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1094415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Segoe UI"/>
              </a:rPr>
              <a:t>Декодеры 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109441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"/>
              </a:rPr>
              <a:t>J1939 для грузовиков, OBD-II для легковых, авто-определение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Два мира CAN-шины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0876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2628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2628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endParaRPr/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SAE J1939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OBD-II (ISO 15765-4)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29-бит (extended)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11-бит (standard)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Скорость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250 кбит/с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500 кбит/с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Модель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Broadcast — ECU сам шлёт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Запрос-ответ на 0x7DF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Где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Грузовики (MAN, Volvo, Scania)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Легковые ≥ 2008 г.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Адресация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Source Address в ID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ECU отвечают на 0x7E8–0x7EF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5440680"/>
            <a:ext cx="10911535" cy="502920"/>
          </a:xfrm>
          <a:prstGeom prst="rect">
            <a:avLst/>
          </a:prstGeom>
          <a:solidFill>
            <a:srgbClr val="22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5440680"/>
            <a:ext cx="10911535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Прошивка поддерживает оба протокола и определяет автоматически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Декодер J1939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Segoe UI"/>
              </a:rPr>
              <a:t>10 стандартных PGN + DM1 (диагностические коды)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40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PGN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Имя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Параметр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Точность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61444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EEC1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Обороты двигателя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0.125 об/мин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65265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CCVS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Скорость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1/256 км/ч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65262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ET1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Температура ОЖ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1 °C, offset −40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65263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EFLP1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Давление масла, топливо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4 кПа / 0.4 %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65271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EP1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Напряжение бортсети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0.05 В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65266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LFE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Расход топлива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0.05 л/ч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61443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EEC2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Нагрузка двигателя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1 %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65248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VD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Общий пробег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0.125 км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65253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HOURS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Моточасы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0.05 ч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74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65226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DM1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Активные DTC (SPN+FMI)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single-frame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 dirty="0" err="1">
                <a:solidFill>
                  <a:srgbClr val="5A6A7A"/>
                </a:solidFill>
                <a:latin typeface="Segoe UI"/>
              </a:rPr>
              <a:t>Таблица</a:t>
            </a:r>
            <a:r>
              <a:rPr sz="1300" b="0" dirty="0">
                <a:solidFill>
                  <a:srgbClr val="5A6A7A"/>
                </a:solidFill>
                <a:latin typeface="Segoe UI"/>
              </a:rPr>
              <a:t> PGN </a:t>
            </a:r>
            <a:r>
              <a:rPr sz="1300" b="0" dirty="0" err="1">
                <a:solidFill>
                  <a:srgbClr val="5A6A7A"/>
                </a:solidFill>
                <a:latin typeface="Segoe UI"/>
              </a:rPr>
              <a:t>живёт</a:t>
            </a:r>
            <a:r>
              <a:rPr sz="1300" b="0" dirty="0">
                <a:solidFill>
                  <a:srgbClr val="5A6A7A"/>
                </a:solidFill>
                <a:latin typeface="Segoe UI"/>
              </a:rPr>
              <a:t> в PROGMEM (~500 </a:t>
            </a:r>
            <a:r>
              <a:rPr sz="1300" b="0" dirty="0" err="1">
                <a:solidFill>
                  <a:srgbClr val="5A6A7A"/>
                </a:solidFill>
                <a:latin typeface="Segoe UI"/>
              </a:rPr>
              <a:t>байт</a:t>
            </a:r>
            <a:r>
              <a:rPr sz="1300" b="0" dirty="0">
                <a:solidFill>
                  <a:srgbClr val="5A6A7A"/>
                </a:solidFill>
                <a:latin typeface="Segoe UI"/>
              </a:rPr>
              <a:t> Flash) — </a:t>
            </a:r>
            <a:r>
              <a:rPr sz="1300" b="0" dirty="0" err="1">
                <a:solidFill>
                  <a:srgbClr val="5A6A7A"/>
                </a:solidFill>
                <a:latin typeface="Segoe UI"/>
              </a:rPr>
              <a:t>обновление</a:t>
            </a:r>
            <a:r>
              <a:rPr sz="13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5A6A7A"/>
                </a:solidFill>
                <a:latin typeface="Segoe UI"/>
              </a:rPr>
              <a:t>через</a:t>
            </a:r>
            <a:r>
              <a:rPr sz="1300" b="0" dirty="0">
                <a:solidFill>
                  <a:srgbClr val="5A6A7A"/>
                </a:solidFill>
                <a:latin typeface="Segoe UI"/>
              </a:rPr>
              <a:t> OTA.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OBD-II поллер для легковых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Segoe UI"/>
              </a:rPr>
              <a:t>J1939 на легковой не работает — нужен запрос-ответ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69494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PID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Параметр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Формула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Ед.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0x04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Engine load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A × 100 / 255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%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0x05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Coolant temp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A − 40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°C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0x0C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RPM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(A·256 + B) / 4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об/мин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0x0D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Speed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км/ч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0x2F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Fuel level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A × 100 / 255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%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0x42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Voltage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(A·256 + B) / 1000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В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0x5E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Fuel rate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(A·256 + B) / 20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л/ч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863840" y="1737360"/>
            <a:ext cx="3657600" cy="3383280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2440" y="187452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Segoe UI"/>
              </a:rPr>
              <a:t>Как это работает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28600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47C26"/>
                </a:solidFill>
                <a:latin typeface="Segoe UI"/>
              </a:rPr>
              <a:t>▸  </a:t>
            </a:r>
            <a:r>
              <a:rPr sz="1200">
                <a:solidFill>
                  <a:srgbClr val="1A1A1A"/>
                </a:solidFill>
                <a:latin typeface="Segoe UI"/>
              </a:rPr>
              <a:t>ESP шлёт запрос на 0x7DF (functional broadcast)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47C26"/>
                </a:solidFill>
                <a:latin typeface="Segoe UI"/>
              </a:rPr>
              <a:t>▸  </a:t>
            </a:r>
            <a:r>
              <a:rPr sz="1200">
                <a:solidFill>
                  <a:srgbClr val="1A1A1A"/>
                </a:solidFill>
                <a:latin typeface="Segoe UI"/>
              </a:rPr>
              <a:t>Раз в 100 мс по очереди для каждого PID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47C26"/>
                </a:solidFill>
                <a:latin typeface="Segoe UI"/>
              </a:rPr>
              <a:t>▸  </a:t>
            </a:r>
            <a:r>
              <a:rPr sz="1200">
                <a:solidFill>
                  <a:srgbClr val="1A1A1A"/>
                </a:solidFill>
                <a:latin typeface="Segoe UI"/>
              </a:rPr>
              <a:t>Ловит ответы на 0x7E8–0x7EF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47C26"/>
                </a:solidFill>
                <a:latin typeface="Segoe UI"/>
              </a:rPr>
              <a:t>▸  </a:t>
            </a:r>
            <a:r>
              <a:rPr sz="1200">
                <a:solidFill>
                  <a:srgbClr val="1A1A1A"/>
                </a:solidFill>
                <a:latin typeface="Segoe UI"/>
              </a:rPr>
              <a:t>Парсит [len, 0x41, PID, A, B…]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Авто-определение шины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Segoe UI"/>
              </a:rPr>
              <a:t>Один и тот же бинарник работает на любом авто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636520" y="1965960"/>
            <a:ext cx="2377440" cy="8229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36520" y="1965960"/>
            <a:ext cx="237744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BOOT
listen @ 500 kbit/s</a:t>
            </a:r>
          </a:p>
        </p:txBody>
      </p:sp>
      <p:sp>
        <p:nvSpPr>
          <p:cNvPr id="8" name="Rectangle 7"/>
          <p:cNvSpPr/>
          <p:nvPr/>
        </p:nvSpPr>
        <p:spPr>
          <a:xfrm>
            <a:off x="7025640" y="1965960"/>
            <a:ext cx="2377440" cy="822960"/>
          </a:xfrm>
          <a:prstGeom prst="rect">
            <a:avLst/>
          </a:prstGeom>
          <a:solidFill>
            <a:srgbClr val="22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25640" y="1965960"/>
            <a:ext cx="237744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J1939
listen-only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36520" y="3794760"/>
            <a:ext cx="2377440" cy="8229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36520" y="3794760"/>
            <a:ext cx="237744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listen @ 250 kbit/s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25640" y="3794760"/>
            <a:ext cx="2377440" cy="82296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25640" y="3794760"/>
            <a:ext cx="237744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Default OBD-II
@ 500 kbit/s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13960" y="2377440"/>
            <a:ext cx="2011680" cy="0"/>
          </a:xfrm>
          <a:prstGeom prst="line">
            <a:avLst/>
          </a:prstGeom>
          <a:ln w="25400">
            <a:solidFill>
              <a:srgbClr val="0A25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05400" y="192024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22A06B"/>
                </a:solidFill>
                <a:latin typeface="Segoe UI"/>
              </a:rPr>
              <a:t>29-бит ID seen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25240" y="2788920"/>
            <a:ext cx="0" cy="1005840"/>
          </a:xfrm>
          <a:prstGeom prst="line">
            <a:avLst/>
          </a:prstGeom>
          <a:ln w="25400">
            <a:solidFill>
              <a:srgbClr val="0A25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916680" y="306324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D9474F"/>
                </a:solidFill>
                <a:latin typeface="Segoe UI"/>
              </a:rPr>
              <a:t>3 сек тишина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13960" y="4206240"/>
            <a:ext cx="2011680" cy="0"/>
          </a:xfrm>
          <a:prstGeom prst="line">
            <a:avLst/>
          </a:prstGeom>
          <a:ln w="25400">
            <a:solidFill>
              <a:srgbClr val="0A25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105400" y="379476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D9474F"/>
                </a:solidFill>
                <a:latin typeface="Segoe UI"/>
              </a:rPr>
              <a:t>ещё 3 сек тишина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120640"/>
            <a:ext cx="10911535" cy="822960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120640"/>
            <a:ext cx="10728655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Segoe UI"/>
              </a:rPr>
              <a:t>В J1939 ESP сидит в LISTEN_ONLY (не ACK-ает). В OBD-II — NORMAL режим, шлёт запросы и принимает ACK от ECU. Переключение режима без перезагрузки.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28016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200" b="1">
                <a:solidFill>
                  <a:srgbClr val="F47C26"/>
                </a:solidFill>
                <a:latin typeface="Segoe UI"/>
              </a:rPr>
              <a:t>ЭТАП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1094415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4800" b="1" dirty="0">
                <a:solidFill>
                  <a:srgbClr val="FFFFFF"/>
                </a:solidFill>
                <a:latin typeface="Segoe UI"/>
              </a:rPr>
              <a:t>Provisioning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109441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"/>
              </a:rPr>
              <a:t>Мультитенантность, captive portal, привязка устройства к компании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Мультитенантность через поддомены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Segoe UI"/>
              </a:rPr>
              <a:t>Изоляция данных на уровне URL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351070"/>
              </p:ext>
            </p:extLst>
          </p:nvPr>
        </p:nvGraphicFramePr>
        <p:xfrm>
          <a:off x="640080" y="2017059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FFFFFF"/>
                          </a:solidFill>
                          <a:latin typeface="Segoe UI"/>
                        </a:rPr>
                        <a:t>URL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Кто заходит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Что видит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nonconf.ru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Super-admin платформы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Все компании, регистрация новых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0A2540"/>
                          </a:solidFill>
                          <a:latin typeface="Segoe UI"/>
                        </a:rPr>
                        <a:t>acme.nonconf.ru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Admin компании ACME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Только свои фуры/устройства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volvo.nonconf.ru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Admin компании Volvo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A1A1A"/>
                          </a:solidFill>
                          <a:latin typeface="Segoe UI"/>
                        </a:rPr>
                        <a:t>Только</a:t>
                      </a:r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 </a:t>
                      </a:r>
                      <a:r>
                        <a:rPr sz="1200" dirty="0" err="1">
                          <a:solidFill>
                            <a:srgbClr val="1A1A1A"/>
                          </a:solidFill>
                          <a:latin typeface="Segoe UI"/>
                        </a:rPr>
                        <a:t>свои</a:t>
                      </a:r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 </a:t>
                      </a:r>
                      <a:r>
                        <a:rPr sz="1200" dirty="0" err="1">
                          <a:solidFill>
                            <a:srgbClr val="1A1A1A"/>
                          </a:solidFill>
                          <a:latin typeface="Segoe UI"/>
                        </a:rPr>
                        <a:t>фуры</a:t>
                      </a:r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/</a:t>
                      </a:r>
                      <a:r>
                        <a:rPr sz="1200" dirty="0" err="1">
                          <a:solidFill>
                            <a:srgbClr val="1A1A1A"/>
                          </a:solidFill>
                          <a:latin typeface="Segoe UI"/>
                        </a:rPr>
                        <a:t>устройства</a:t>
                      </a:r>
                      <a:endParaRPr sz="1200" dirty="0">
                        <a:solidFill>
                          <a:srgbClr val="1A1A1A"/>
                        </a:solidFill>
                        <a:latin typeface="Segoe UI"/>
                      </a:endParaRP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232" y="4197096"/>
            <a:ext cx="10911535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832" y="4334256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Segoe UI"/>
              </a:rPr>
              <a:t>Как работает изоляция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832" y="4700016"/>
            <a:ext cx="104543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47C26"/>
                </a:solidFill>
                <a:latin typeface="Segoe UI"/>
              </a:rPr>
              <a:t>▸  </a:t>
            </a:r>
            <a:r>
              <a:rPr sz="1300">
                <a:solidFill>
                  <a:srgbClr val="1A1A1A"/>
                </a:solidFill>
                <a:latin typeface="Segoe UI"/>
              </a:rPr>
              <a:t>Wildcard-сертификат *.nonconf.ru (Let's Encrypt)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47C26"/>
                </a:solidFill>
                <a:latin typeface="Segoe UI"/>
              </a:rPr>
              <a:t>▸  </a:t>
            </a:r>
            <a:r>
              <a:rPr sz="1300">
                <a:solidFill>
                  <a:srgbClr val="1A1A1A"/>
                </a:solidFill>
                <a:latin typeface="Segoe UI"/>
              </a:rPr>
              <a:t>Middleware на бэкенде резолвит tenant_id из Host-заголовка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47C26"/>
                </a:solidFill>
                <a:latin typeface="Segoe UI"/>
              </a:rPr>
              <a:t>▸  </a:t>
            </a:r>
            <a:r>
              <a:rPr sz="1300">
                <a:solidFill>
                  <a:srgbClr val="1A1A1A"/>
                </a:solidFill>
                <a:latin typeface="Segoe UI"/>
              </a:rPr>
              <a:t>Все SQL-запросы фильтруются по tenant_id автоматически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47C26"/>
                </a:solidFill>
                <a:latin typeface="Segoe UI"/>
              </a:rPr>
              <a:t>▸  </a:t>
            </a:r>
            <a:r>
              <a:rPr sz="1300">
                <a:solidFill>
                  <a:srgbClr val="1A1A1A"/>
                </a:solidFill>
                <a:latin typeface="Segoe UI"/>
              </a:rPr>
              <a:t>Запрос на acme.nonconf.ru с JWT компании Volvo → 403 tenant_mismatch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18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Поток установки устройства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Segoe UI"/>
              </a:rPr>
              <a:t>Атомарная привязка через 6-значный код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115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F47C26"/>
                </a:solidFill>
                <a:latin typeface="Segoe UI"/>
              </a:rPr>
              <a:t>1.  </a:t>
            </a:r>
            <a:r>
              <a:rPr sz="1400">
                <a:solidFill>
                  <a:srgbClr val="1A1A1A"/>
                </a:solidFill>
                <a:latin typeface="Segoe UI"/>
              </a:rPr>
              <a:t>Админ компании в ЛК → «Добавить устройство» → выдаётся код 428193 (TTL 30 мин, single-use)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47C26"/>
                </a:solidFill>
                <a:latin typeface="Segoe UI"/>
              </a:rPr>
              <a:t>2.  </a:t>
            </a:r>
            <a:r>
              <a:rPr sz="1400">
                <a:solidFill>
                  <a:srgbClr val="1A1A1A"/>
                </a:solidFill>
                <a:latin typeface="Segoe UI"/>
              </a:rPr>
              <a:t>Установщик подключает ESP32 в фуру → автоматически поднимается SoftAP «VehicleLogger-XXXX»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47C26"/>
                </a:solidFill>
                <a:latin typeface="Segoe UI"/>
              </a:rPr>
              <a:t>3.  </a:t>
            </a:r>
            <a:r>
              <a:rPr sz="1400">
                <a:solidFill>
                  <a:srgbClr val="1A1A1A"/>
                </a:solidFill>
                <a:latin typeface="Segoe UI"/>
              </a:rPr>
              <a:t>Подключение телефоном (пароль setup1234) → captive portal на 192.168.4.1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47C26"/>
                </a:solidFill>
                <a:latin typeface="Segoe UI"/>
              </a:rPr>
              <a:t>4.  </a:t>
            </a:r>
            <a:r>
              <a:rPr sz="1400">
                <a:solidFill>
                  <a:srgbClr val="1A1A1A"/>
                </a:solidFill>
                <a:latin typeface="Segoe UI"/>
              </a:rPr>
              <a:t>Ввод: WiFi-сеть + пароль + поддомен компании + 6-значный код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47C26"/>
                </a:solidFill>
                <a:latin typeface="Segoe UI"/>
              </a:rPr>
              <a:t>5.  </a:t>
            </a:r>
            <a:r>
              <a:rPr sz="1400">
                <a:solidFill>
                  <a:srgbClr val="1A1A1A"/>
                </a:solidFill>
                <a:latin typeface="Segoe UI"/>
              </a:rPr>
              <a:t>ESP подключается к WiFi → POST https://&lt;sub&gt;.nonconf.ru/api/devices/enroll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47C26"/>
                </a:solidFill>
                <a:latin typeface="Segoe UI"/>
              </a:rPr>
              <a:t>6.  </a:t>
            </a:r>
            <a:r>
              <a:rPr sz="1400">
                <a:solidFill>
                  <a:srgbClr val="1A1A1A"/>
                </a:solidFill>
                <a:latin typeface="Segoe UI"/>
              </a:rPr>
              <a:t>Backend проверяет serial+secret+code → выдаёт API-ключ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47C26"/>
                </a:solidFill>
                <a:latin typeface="Segoe UI"/>
              </a:rPr>
              <a:t>7.  </a:t>
            </a:r>
            <a:r>
              <a:rPr sz="1400">
                <a:solidFill>
                  <a:srgbClr val="1A1A1A"/>
                </a:solidFill>
                <a:latin typeface="Segoe UI"/>
              </a:rPr>
              <a:t>ESP сохраняет ключ в NVS → перезагружается → рабочий режим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651623"/>
            <a:ext cx="10911535" cy="502920"/>
          </a:xfrm>
          <a:prstGeom prst="rect">
            <a:avLst/>
          </a:prstGeom>
          <a:solidFill>
            <a:srgbClr val="22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232" y="5662659"/>
            <a:ext cx="10911535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Один запрос. Никакого QR. Никакого поллинга.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19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Captive portal на ESP32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Segoe UI"/>
              </a:rPr>
              <a:t>SoftAP + DNS catch-all + минимальный веб-сервер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22494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Wi-Fi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точка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доступа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«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VehicleLogger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-XXXXXXXX»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DNS catch-all: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любой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запрос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→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редирект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на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192.168.4.1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AsyncWebServer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+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LittleFS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, HTML-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страница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~6 КБ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JSON API: /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api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/scan, /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api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/setup, /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api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/status, /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api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/info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State machine: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ввод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→ connect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WiFi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→ POST /enroll →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результат</a:t>
            </a:r>
            <a:endParaRPr sz="14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Маппинг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ошибок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: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invalid_code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/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invalid_subdomain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/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already_claimed</a:t>
            </a:r>
            <a:endParaRPr sz="14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Каждая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ошибка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имеет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своё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сообщение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для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установщика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на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UI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20 / 27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6" b="1"/>
          <a:stretch/>
        </p:blipFill>
        <p:spPr>
          <a:xfrm>
            <a:off x="7939242" y="1500877"/>
            <a:ext cx="2593402" cy="453179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4730"/>
            <a:ext cx="11094415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 dirty="0">
                <a:solidFill>
                  <a:srgbClr val="0A2540"/>
                </a:solidFill>
                <a:latin typeface="Segoe UI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Segoe UI"/>
              </a:rPr>
              <a:t>Реализована наша спецификация 1:1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3657600" cy="50292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6576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Без auth (для устройства)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3657600" cy="3794760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4747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47C26"/>
                </a:solidFill>
                <a:latin typeface="Consolas"/>
              </a:rPr>
              <a:t>POST  </a:t>
            </a:r>
            <a:r>
              <a:rPr sz="1100">
                <a:solidFill>
                  <a:srgbClr val="0A2540"/>
                </a:solidFill>
                <a:latin typeface="Consolas"/>
              </a:rPr>
              <a:t>/api/devices/enroll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5A6A7A"/>
                </a:solidFill>
                <a:latin typeface="Segoe UI"/>
              </a:rPr>
              <a:t>  Атомарная привязка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47C26"/>
                </a:solidFill>
                <a:latin typeface="Consolas"/>
              </a:rPr>
              <a:t>POST  </a:t>
            </a:r>
            <a:r>
              <a:rPr sz="1100">
                <a:solidFill>
                  <a:srgbClr val="0A2540"/>
                </a:solidFill>
                <a:latin typeface="Consolas"/>
              </a:rPr>
              <a:t>/api/telemetry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5A6A7A"/>
                </a:solidFill>
                <a:latin typeface="Segoe UI"/>
              </a:rPr>
              <a:t>  Bearer api_key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47C26"/>
                </a:solidFill>
                <a:latin typeface="Consolas"/>
              </a:rPr>
              <a:t>POST  </a:t>
            </a:r>
            <a:r>
              <a:rPr sz="1100">
                <a:solidFill>
                  <a:srgbClr val="0A2540"/>
                </a:solidFill>
                <a:latin typeface="Consolas"/>
              </a:rPr>
              <a:t>/api/device/ping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5A6A7A"/>
                </a:solidFill>
                <a:latin typeface="Segoe UI"/>
              </a:rPr>
              <a:t>  Heartbeat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737360"/>
            <a:ext cx="3657600" cy="502920"/>
          </a:xfrm>
          <a:prstGeom prst="rect">
            <a:avLst/>
          </a:prstGeom>
          <a:solidFill>
            <a:srgbClr val="14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737360"/>
            <a:ext cx="36576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JWT (admin компании)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240280"/>
            <a:ext cx="3657600" cy="3794760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377440"/>
            <a:ext cx="34747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47C26"/>
                </a:solidFill>
                <a:latin typeface="Consolas"/>
              </a:rPr>
              <a:t>POST  </a:t>
            </a:r>
            <a:r>
              <a:rPr sz="1100">
                <a:solidFill>
                  <a:srgbClr val="0A2540"/>
                </a:solidFill>
                <a:latin typeface="Consolas"/>
              </a:rPr>
              <a:t>/api/enrollment-codes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5A6A7A"/>
                </a:solidFill>
                <a:latin typeface="Segoe UI"/>
              </a:rPr>
              <a:t>  Выпуск 6-значного кода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47C26"/>
                </a:solidFill>
                <a:latin typeface="Consolas"/>
              </a:rPr>
              <a:t>GET   </a:t>
            </a:r>
            <a:r>
              <a:rPr sz="1100">
                <a:solidFill>
                  <a:srgbClr val="0A2540"/>
                </a:solidFill>
                <a:latin typeface="Consolas"/>
              </a:rPr>
              <a:t>/api/devices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5A6A7A"/>
                </a:solidFill>
                <a:latin typeface="Segoe UI"/>
              </a:rPr>
              <a:t>  Список устройств тенанта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47C26"/>
                </a:solidFill>
                <a:latin typeface="Consolas"/>
              </a:rPr>
              <a:t>POST  </a:t>
            </a:r>
            <a:r>
              <a:rPr sz="1100">
                <a:solidFill>
                  <a:srgbClr val="0A2540"/>
                </a:solidFill>
                <a:latin typeface="Consolas"/>
              </a:rPr>
              <a:t>/api/devices/{id}/unclaim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5A6A7A"/>
                </a:solidFill>
                <a:latin typeface="Segoe UI"/>
              </a:rPr>
              <a:t>  Отвязать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47C26"/>
                </a:solidFill>
                <a:latin typeface="Consolas"/>
              </a:rPr>
              <a:t>POST  </a:t>
            </a:r>
            <a:r>
              <a:rPr sz="1100">
                <a:solidFill>
                  <a:srgbClr val="0A2540"/>
                </a:solidFill>
                <a:latin typeface="Consolas"/>
              </a:rPr>
              <a:t>/api/devices/{id}/rotate-key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5A6A7A"/>
                </a:solidFill>
                <a:latin typeface="Segoe UI"/>
              </a:rPr>
              <a:t>  Ротация ключа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47C26"/>
                </a:solidFill>
                <a:latin typeface="Consolas"/>
              </a:rPr>
              <a:t>GET   </a:t>
            </a:r>
            <a:r>
              <a:rPr sz="1100">
                <a:solidFill>
                  <a:srgbClr val="0A2540"/>
                </a:solidFill>
                <a:latin typeface="Consolas"/>
              </a:rPr>
              <a:t>/api/vehicles/{id}/telemetry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5A6A7A"/>
                </a:solidFill>
                <a:latin typeface="Segoe UI"/>
              </a:rPr>
              <a:t>  История для графиков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737360"/>
            <a:ext cx="3657600" cy="50292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737360"/>
            <a:ext cx="36576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Super-admin (на apex)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240280"/>
            <a:ext cx="3657600" cy="3794760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377440"/>
            <a:ext cx="34747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47C26"/>
                </a:solidFill>
                <a:latin typeface="Consolas"/>
              </a:rPr>
              <a:t>POST  </a:t>
            </a:r>
            <a:r>
              <a:rPr sz="1100">
                <a:solidFill>
                  <a:srgbClr val="0A2540"/>
                </a:solidFill>
                <a:latin typeface="Consolas"/>
              </a:rPr>
              <a:t>/api/tenants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5A6A7A"/>
                </a:solidFill>
                <a:latin typeface="Segoe UI"/>
              </a:rPr>
              <a:t>  Создать компанию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47C26"/>
                </a:solidFill>
                <a:latin typeface="Consolas"/>
              </a:rPr>
              <a:t>GET   </a:t>
            </a:r>
            <a:r>
              <a:rPr sz="1100">
                <a:solidFill>
                  <a:srgbClr val="0A2540"/>
                </a:solidFill>
                <a:latin typeface="Consolas"/>
              </a:rPr>
              <a:t>/api/tenants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5A6A7A"/>
                </a:solidFill>
                <a:latin typeface="Segoe UI"/>
              </a:rPr>
              <a:t>  Список компаний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47C26"/>
                </a:solidFill>
                <a:latin typeface="Consolas"/>
              </a:rPr>
              <a:t>DELETE</a:t>
            </a:r>
            <a:r>
              <a:rPr sz="1100">
                <a:solidFill>
                  <a:srgbClr val="0A2540"/>
                </a:solidFill>
                <a:latin typeface="Consolas"/>
              </a:rPr>
              <a:t>/api/tenants/{id}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5A6A7A"/>
                </a:solidFill>
                <a:latin typeface="Segoe UI"/>
              </a:rPr>
              <a:t>  Удалить пустого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21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Веб-админка тенанта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Segoe UI"/>
              </a:rPr>
              <a:t>Vue 3 + Vite + TypeScript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Dashboard — KPI: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онлайн-устройств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,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фур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в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движении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,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расход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за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день</a:t>
            </a:r>
            <a:endParaRPr sz="14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Список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фур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с last-seen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статусом</a:t>
            </a:r>
            <a:endParaRPr sz="14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Страница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фуры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: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графики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(RPM,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скорость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,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температура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,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расход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)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Устройства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: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статусы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и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кнопки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unclaim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/ rotate-key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Коды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привязки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: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выдача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и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отзыв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6-значных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кодов</a:t>
            </a:r>
            <a:endParaRPr sz="1400" dirty="0">
              <a:solidFill>
                <a:srgbClr val="1A1A1A"/>
              </a:solidFill>
              <a:latin typeface="Segoe U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22 / 27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="" xmlns:a16="http://schemas.microsoft.com/office/drawing/2014/main" id="{06785443-429B-4C9F-AA38-42E79EB8F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276" y="401035"/>
            <a:ext cx="4702779" cy="204391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="" xmlns:a16="http://schemas.microsoft.com/office/drawing/2014/main" id="{31E74EDB-4565-405C-B339-1E85129EF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76" y="2575671"/>
            <a:ext cx="4702779" cy="345152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Безопасность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3657600" cy="12801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Транспорт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65760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ESP → backend только HTTPS
Wildcard *.nonconf.ru
(Let's Encrypt)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417320"/>
            <a:ext cx="3657600" cy="1280160"/>
          </a:xfrm>
          <a:prstGeom prst="rect">
            <a:avLst/>
          </a:prstGeom>
          <a:solidFill>
            <a:srgbClr val="14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50876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API-ключи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920240"/>
            <a:ext cx="365760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64-hex (256 бит)
Backend хранит SHA-256 хеш
При утечке — /rotate-key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417320"/>
            <a:ext cx="3383280" cy="128016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Изоляция БД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3832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Middleware режет JWT по tenant_id
Запрос на чужой поддомен → 403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6324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A2540"/>
                </a:solidFill>
                <a:latin typeface="Segoe UI"/>
              </a:rPr>
              <a:t>Защита enroll-flow — три фактора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2044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1. 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Физический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доступ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к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устройству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—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для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подключения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к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SoftAP</a:t>
            </a:r>
            <a:endParaRPr sz="14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2. 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Знание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поддомена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компании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—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где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находится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тенант</a:t>
            </a:r>
            <a:endParaRPr sz="14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3.  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6-значный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код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от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админа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— TTL 30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мин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, single-use,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привязан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к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одному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тенанту</a:t>
            </a:r>
            <a:endParaRPr sz="1400" dirty="0">
              <a:solidFill>
                <a:srgbClr val="1A1A1A"/>
              </a:solidFill>
              <a:latin typeface="Segoe U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Segoe UI"/>
              </a:rPr>
              <a:t>Опечатка</a:t>
            </a:r>
            <a:r>
              <a:rPr sz="1400" b="1" dirty="0">
                <a:solidFill>
                  <a:srgbClr val="FFFFFF"/>
                </a:solidFill>
                <a:latin typeface="Segoe UI"/>
              </a:rPr>
              <a:t> в </a:t>
            </a:r>
            <a:r>
              <a:rPr sz="1400" b="1" dirty="0" err="1">
                <a:solidFill>
                  <a:srgbClr val="FFFFFF"/>
                </a:solidFill>
                <a:latin typeface="Segoe UI"/>
              </a:rPr>
              <a:t>поддомене</a:t>
            </a:r>
            <a:r>
              <a:rPr sz="1400" b="1" dirty="0">
                <a:solidFill>
                  <a:srgbClr val="FFFFFF"/>
                </a:solidFill>
                <a:latin typeface="Segoe UI"/>
              </a:rPr>
              <a:t> → </a:t>
            </a:r>
            <a:r>
              <a:rPr sz="1400" b="1" dirty="0" err="1">
                <a:solidFill>
                  <a:srgbClr val="FFFFFF"/>
                </a:solidFill>
                <a:latin typeface="Segoe UI"/>
              </a:rPr>
              <a:t>код</a:t>
            </a:r>
            <a:r>
              <a:rPr sz="14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Segoe UI"/>
              </a:rPr>
              <a:t>не</a:t>
            </a:r>
            <a:r>
              <a:rPr sz="14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Segoe UI"/>
              </a:rPr>
              <a:t>пройдёт</a:t>
            </a:r>
            <a:r>
              <a:rPr sz="1400" b="1" dirty="0">
                <a:solidFill>
                  <a:srgbClr val="FFFFFF"/>
                </a:solidFill>
                <a:latin typeface="Segoe UI"/>
              </a:rPr>
              <a:t> → </a:t>
            </a:r>
            <a:r>
              <a:rPr sz="1400" b="1" dirty="0" err="1">
                <a:solidFill>
                  <a:srgbClr val="FFFFFF"/>
                </a:solidFill>
                <a:latin typeface="Segoe UI"/>
              </a:rPr>
              <a:t>устройство</a:t>
            </a:r>
            <a:r>
              <a:rPr sz="1400" b="1" dirty="0">
                <a:solidFill>
                  <a:srgbClr val="FFFFFF"/>
                </a:solidFill>
                <a:latin typeface="Segoe UI"/>
              </a:rPr>
              <a:t> НЕ </a:t>
            </a:r>
            <a:r>
              <a:rPr sz="1400" b="1" dirty="0" err="1">
                <a:solidFill>
                  <a:srgbClr val="FFFFFF"/>
                </a:solidFill>
                <a:latin typeface="Segoe UI"/>
              </a:rPr>
              <a:t>привяжется</a:t>
            </a:r>
            <a:r>
              <a:rPr sz="1400" b="1" dirty="0">
                <a:solidFill>
                  <a:srgbClr val="FFFFFF"/>
                </a:solidFill>
                <a:latin typeface="Segoe UI"/>
              </a:rPr>
              <a:t> к </a:t>
            </a:r>
            <a:r>
              <a:rPr sz="1400" b="1" dirty="0" err="1">
                <a:solidFill>
                  <a:srgbClr val="FFFFFF"/>
                </a:solidFill>
                <a:latin typeface="Segoe UI"/>
              </a:rPr>
              <a:t>чужой</a:t>
            </a:r>
            <a:r>
              <a:rPr sz="14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Segoe UI"/>
              </a:rPr>
              <a:t>компании</a:t>
            </a:r>
            <a:endParaRPr sz="14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23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 dirty="0">
                <a:solidFill>
                  <a:srgbClr val="0A2540"/>
                </a:solidFill>
                <a:latin typeface="Segoe UI"/>
              </a:rPr>
              <a:t>Roadmap — </a:t>
            </a:r>
            <a:r>
              <a:rPr sz="2800" b="1" dirty="0" err="1">
                <a:solidFill>
                  <a:srgbClr val="0A2540"/>
                </a:solidFill>
                <a:latin typeface="Segoe UI"/>
              </a:rPr>
              <a:t>что</a:t>
            </a:r>
            <a:r>
              <a:rPr sz="2800" b="1" dirty="0">
                <a:solidFill>
                  <a:srgbClr val="0A2540"/>
                </a:solidFill>
                <a:latin typeface="Segoe UI"/>
              </a:rPr>
              <a:t> </a:t>
            </a:r>
            <a:r>
              <a:rPr sz="2800" b="1" dirty="0" err="1">
                <a:solidFill>
                  <a:srgbClr val="0A2540"/>
                </a:solidFill>
                <a:latin typeface="Segoe UI"/>
              </a:rPr>
              <a:t>дальше</a:t>
            </a:r>
            <a:endParaRPr sz="2800" b="1" dirty="0">
              <a:solidFill>
                <a:srgbClr val="0A2540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457661"/>
            <a:ext cx="2697480" cy="6400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750269"/>
            <a:ext cx="2697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GPS + IMU интеграция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097741"/>
            <a:ext cx="2697480" cy="36576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234901"/>
            <a:ext cx="242316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100" dirty="0" err="1">
                <a:solidFill>
                  <a:srgbClr val="1A1A1A"/>
                </a:solidFill>
                <a:latin typeface="Segoe UI"/>
              </a:rPr>
              <a:t>Координаты</a:t>
            </a:r>
            <a:r>
              <a:rPr sz="11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100" dirty="0" err="1">
                <a:solidFill>
                  <a:srgbClr val="1A1A1A"/>
                </a:solidFill>
                <a:latin typeface="Segoe UI"/>
              </a:rPr>
              <a:t>по</a:t>
            </a:r>
            <a:r>
              <a:rPr sz="1100" dirty="0">
                <a:solidFill>
                  <a:srgbClr val="1A1A1A"/>
                </a:solidFill>
                <a:latin typeface="Segoe UI"/>
              </a:rPr>
              <a:t> GPS</a:t>
            </a:r>
          </a:p>
          <a:p>
            <a:pPr>
              <a:spcAft>
                <a:spcPts val="800"/>
              </a:spcAft>
            </a:pPr>
            <a:r>
              <a:rPr sz="11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100" dirty="0" err="1">
                <a:solidFill>
                  <a:srgbClr val="1A1A1A"/>
                </a:solidFill>
                <a:latin typeface="Segoe UI"/>
              </a:rPr>
              <a:t>Скорость</a:t>
            </a:r>
            <a:r>
              <a:rPr sz="1100" dirty="0">
                <a:solidFill>
                  <a:srgbClr val="1A1A1A"/>
                </a:solidFill>
                <a:latin typeface="Segoe UI"/>
              </a:rPr>
              <a:t> (cross-check с CAN)</a:t>
            </a:r>
          </a:p>
          <a:p>
            <a:pPr>
              <a:spcAft>
                <a:spcPts val="800"/>
              </a:spcAft>
            </a:pPr>
            <a:r>
              <a:rPr sz="11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100" dirty="0" err="1">
                <a:solidFill>
                  <a:srgbClr val="1A1A1A"/>
                </a:solidFill>
                <a:latin typeface="Segoe UI"/>
              </a:rPr>
              <a:t>Резкое</a:t>
            </a:r>
            <a:r>
              <a:rPr sz="11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100" dirty="0" err="1">
                <a:solidFill>
                  <a:srgbClr val="1A1A1A"/>
                </a:solidFill>
                <a:latin typeface="Segoe UI"/>
              </a:rPr>
              <a:t>торможение</a:t>
            </a:r>
            <a:endParaRPr sz="11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1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100" dirty="0" err="1">
                <a:solidFill>
                  <a:srgbClr val="1A1A1A"/>
                </a:solidFill>
                <a:latin typeface="Segoe UI"/>
              </a:rPr>
              <a:t>Удар</a:t>
            </a:r>
            <a:r>
              <a:rPr sz="11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100" dirty="0" err="1">
                <a:solidFill>
                  <a:srgbClr val="1A1A1A"/>
                </a:solidFill>
                <a:latin typeface="Segoe UI"/>
              </a:rPr>
              <a:t>через</a:t>
            </a:r>
            <a:r>
              <a:rPr sz="1100" dirty="0">
                <a:solidFill>
                  <a:srgbClr val="1A1A1A"/>
                </a:solidFill>
                <a:latin typeface="Segoe UI"/>
              </a:rPr>
              <a:t> MPU-6050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32873" y="1446635"/>
            <a:ext cx="2697480" cy="6400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32873" y="1739243"/>
            <a:ext cx="269748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Segoe UI"/>
              </a:rPr>
              <a:t>OTA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32873" y="2086715"/>
            <a:ext cx="2697480" cy="36576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70033" y="2223875"/>
            <a:ext cx="2423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100" dirty="0">
                <a:solidFill>
                  <a:srgbClr val="1A1A1A"/>
                </a:solidFill>
                <a:latin typeface="Segoe UI"/>
              </a:rPr>
              <a:t>HTTPS OTA с </a:t>
            </a:r>
            <a:r>
              <a:rPr sz="1100" dirty="0" err="1">
                <a:solidFill>
                  <a:srgbClr val="1A1A1A"/>
                </a:solidFill>
                <a:latin typeface="Segoe UI"/>
              </a:rPr>
              <a:t>подписью</a:t>
            </a:r>
            <a:endParaRPr sz="1100" dirty="0">
              <a:solidFill>
                <a:srgbClr val="1A1A1A"/>
              </a:solidFill>
              <a:latin typeface="Segoe U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25 / 27</a:t>
            </a:r>
          </a:p>
        </p:txBody>
      </p:sp>
      <p:sp>
        <p:nvSpPr>
          <p:cNvPr id="19" name="Rectangle 9"/>
          <p:cNvSpPr/>
          <p:nvPr/>
        </p:nvSpPr>
        <p:spPr>
          <a:xfrm>
            <a:off x="6145302" y="1450131"/>
            <a:ext cx="2697480" cy="6400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45302" y="1742739"/>
            <a:ext cx="269748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FFFFFF"/>
                </a:solidFill>
                <a:latin typeface="Segoe UI"/>
              </a:rPr>
              <a:t>Корпус + </a:t>
            </a:r>
            <a:r>
              <a:rPr lang="en-US" sz="1400" b="1" dirty="0" smtClean="0">
                <a:solidFill>
                  <a:srgbClr val="FFFFFF"/>
                </a:solidFill>
                <a:latin typeface="Segoe UI"/>
              </a:rPr>
              <a:t>PCB</a:t>
            </a:r>
            <a:endParaRPr sz="14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6" name="Rectangle 12"/>
          <p:cNvSpPr/>
          <p:nvPr/>
        </p:nvSpPr>
        <p:spPr>
          <a:xfrm>
            <a:off x="6145302" y="2090211"/>
            <a:ext cx="2697480" cy="36576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82462" y="2227371"/>
            <a:ext cx="2423160" cy="53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lang="ru-RU" sz="1100" dirty="0" smtClean="0">
                <a:solidFill>
                  <a:srgbClr val="1A1A1A"/>
                </a:solidFill>
                <a:latin typeface="Segoe UI"/>
              </a:rPr>
              <a:t>Разработка </a:t>
            </a:r>
            <a:r>
              <a:rPr lang="en-US" sz="1100" dirty="0" smtClean="0">
                <a:solidFill>
                  <a:srgbClr val="1A1A1A"/>
                </a:solidFill>
                <a:latin typeface="Segoe UI"/>
              </a:rPr>
              <a:t>PCB</a:t>
            </a:r>
            <a:r>
              <a:rPr lang="ru-RU" sz="1100" dirty="0" smtClean="0">
                <a:solidFill>
                  <a:srgbClr val="1A1A1A"/>
                </a:solidFill>
                <a:latin typeface="Segoe UI"/>
              </a:rPr>
              <a:t> для устройства</a:t>
            </a:r>
            <a:endParaRPr sz="11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1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lang="ru-RU" sz="1100" dirty="0" smtClean="0">
                <a:solidFill>
                  <a:srgbClr val="1A1A1A"/>
                </a:solidFill>
                <a:latin typeface="Segoe UI"/>
              </a:rPr>
              <a:t>Разработка корпуса</a:t>
            </a:r>
            <a:endParaRPr sz="1100" dirty="0">
              <a:solidFill>
                <a:srgbClr val="1A1A1A"/>
              </a:solidFill>
              <a:latin typeface="Segoe UI"/>
            </a:endParaRPr>
          </a:p>
        </p:txBody>
      </p:sp>
      <p:sp>
        <p:nvSpPr>
          <p:cNvPr id="29" name="Rectangle 9"/>
          <p:cNvSpPr/>
          <p:nvPr/>
        </p:nvSpPr>
        <p:spPr>
          <a:xfrm>
            <a:off x="3346971" y="1457661"/>
            <a:ext cx="2697480" cy="6400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46971" y="1750269"/>
            <a:ext cx="269748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1400" b="1" dirty="0" smtClean="0">
                <a:solidFill>
                  <a:srgbClr val="FFFFFF"/>
                </a:solidFill>
                <a:latin typeface="Segoe UI"/>
              </a:rPr>
              <a:t>Telegram </a:t>
            </a:r>
            <a:r>
              <a:rPr lang="ru-RU" sz="1400" b="1" dirty="0" smtClean="0">
                <a:solidFill>
                  <a:srgbClr val="FFFFFF"/>
                </a:solidFill>
                <a:latin typeface="Segoe UI"/>
              </a:rPr>
              <a:t>бот</a:t>
            </a:r>
            <a:endParaRPr sz="14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1" name="Rectangle 12"/>
          <p:cNvSpPr/>
          <p:nvPr/>
        </p:nvSpPr>
        <p:spPr>
          <a:xfrm>
            <a:off x="3346971" y="2097741"/>
            <a:ext cx="2697480" cy="36576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84131" y="2234901"/>
            <a:ext cx="2423160" cy="53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lang="ru-RU" sz="1100" dirty="0" smtClean="0">
                <a:solidFill>
                  <a:srgbClr val="1A1A1A"/>
                </a:solidFill>
                <a:latin typeface="Segoe UI"/>
              </a:rPr>
              <a:t>Разработка </a:t>
            </a:r>
            <a:r>
              <a:rPr lang="en-US" sz="1100" dirty="0" smtClean="0">
                <a:solidFill>
                  <a:srgbClr val="1A1A1A"/>
                </a:solidFill>
                <a:latin typeface="Segoe UI"/>
              </a:rPr>
              <a:t>telegram </a:t>
            </a:r>
            <a:r>
              <a:rPr lang="ru-RU" sz="1100" dirty="0" smtClean="0">
                <a:solidFill>
                  <a:srgbClr val="1A1A1A"/>
                </a:solidFill>
                <a:latin typeface="Segoe UI"/>
              </a:rPr>
              <a:t>бота</a:t>
            </a:r>
            <a:endParaRPr sz="11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1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lang="ru-RU" sz="1100" dirty="0">
                <a:solidFill>
                  <a:srgbClr val="1A1A1A"/>
                </a:solidFill>
                <a:latin typeface="Segoe UI"/>
              </a:rPr>
              <a:t>И</a:t>
            </a:r>
            <a:r>
              <a:rPr lang="ru-RU" sz="1100" dirty="0" smtClean="0">
                <a:solidFill>
                  <a:srgbClr val="1A1A1A"/>
                </a:solidFill>
                <a:latin typeface="Segoe UI"/>
              </a:rPr>
              <a:t>нтеграция </a:t>
            </a:r>
            <a:r>
              <a:rPr lang="en-US" sz="1100" dirty="0" smtClean="0">
                <a:solidFill>
                  <a:srgbClr val="1A1A1A"/>
                </a:solidFill>
                <a:latin typeface="Segoe UI"/>
              </a:rPr>
              <a:t>telegram </a:t>
            </a:r>
            <a:r>
              <a:rPr lang="ru-RU" sz="1100" dirty="0" smtClean="0">
                <a:solidFill>
                  <a:srgbClr val="1A1A1A"/>
                </a:solidFill>
                <a:latin typeface="Segoe UI"/>
              </a:rPr>
              <a:t>бота</a:t>
            </a:r>
            <a:endParaRPr sz="1100" dirty="0">
              <a:solidFill>
                <a:srgbClr val="1A1A1A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Демонстрация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dirty="0">
                <a:solidFill>
                  <a:srgbClr val="5A6A7A"/>
                </a:solidFill>
                <a:latin typeface="Segoe UI"/>
              </a:rPr>
              <a:t>Live-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привязка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устройства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от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первого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включения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до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телеметрии</a:t>
            </a:r>
            <a:endParaRPr sz="1400" b="0" dirty="0">
              <a:solidFill>
                <a:srgbClr val="5A6A7A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815379" cy="3318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1.  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ESP32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включается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«с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завода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» → boot-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лог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: VL-7A37F9D1, NVS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пуст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→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SoftAP</a:t>
            </a:r>
            <a:endParaRPr sz="14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2. 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Подключение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телефоном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к Wi-Fi VehicleLogger-7A37F9D1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3.  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Captive portal: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WiFi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+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поддомен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test + 6-значный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код</a:t>
            </a:r>
            <a:endParaRPr sz="14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4.  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Submit → ESP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подключается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→ POST /enroll →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получает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api_key</a:t>
            </a:r>
            <a:endParaRPr sz="14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5.  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В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админке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test.nonconf.ru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появляется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новое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устройство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со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статусом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lang="ru-RU" sz="1400" dirty="0" smtClean="0">
                <a:solidFill>
                  <a:srgbClr val="1A1A1A"/>
                </a:solidFill>
                <a:latin typeface="Segoe UI"/>
              </a:rPr>
              <a:t>«Привязано»</a:t>
            </a:r>
            <a:endParaRPr sz="14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6.  </a:t>
            </a:r>
            <a:r>
              <a:rPr lang="ru-RU" sz="1400" dirty="0" smtClean="0">
                <a:solidFill>
                  <a:srgbClr val="1A1A1A"/>
                </a:solidFill>
                <a:latin typeface="Segoe UI"/>
              </a:rPr>
              <a:t>Данные обновляются в реальном времени</a:t>
            </a:r>
            <a:endParaRPr sz="1400" dirty="0">
              <a:solidFill>
                <a:srgbClr val="1A1A1A"/>
              </a:solidFill>
              <a:latin typeface="Segoe U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26 / 27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210" y="1828800"/>
            <a:ext cx="7167516" cy="373828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Segoe UI"/>
              </a:rPr>
              <a:t>Спасибо за внимание!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06240"/>
            <a:ext cx="1828800" cy="4572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1576</Words>
  <Application>Microsoft Office PowerPoint</Application>
  <PresentationFormat>Широкоэкранный</PresentationFormat>
  <Paragraphs>361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9" baseType="lpstr">
      <vt:lpstr>Arial</vt:lpstr>
      <vt:lpstr>Calibri</vt:lpstr>
      <vt:lpstr>Consolas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User</dc:creator>
  <cp:keywords/>
  <dc:description>generated using python-pptx</dc:description>
  <cp:lastModifiedBy>Huanan</cp:lastModifiedBy>
  <cp:revision>18</cp:revision>
  <dcterms:created xsi:type="dcterms:W3CDTF">2013-01-27T09:14:16Z</dcterms:created>
  <dcterms:modified xsi:type="dcterms:W3CDTF">2026-05-11T15:02:06Z</dcterms:modified>
  <cp:category/>
</cp:coreProperties>
</file>